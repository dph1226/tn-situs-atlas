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Cambria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Cambria"/>
              </a:rPr>
              <a:t>Expected case, first year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County pays</c:v>
                </c:pt>
              </c:strCache>
            </c:strRef>
          </c:tx>
          <c:spPr>
            <a:solidFill>
              <a:srgbClr val="E4B5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DDE2EB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Situs audit (30%)</c:v>
                  </c:pt>
                  <c:pt idx="1">
                    <c:v>TPP audit (30%)</c:v>
                  </c:pt>
                  <c:pt idx="2">
                    <c:v>License (40%)</c:v>
                  </c:pt>
                  <c:pt idx="3">
                    <c:v>Three vendors</c:v>
                  </c:pt>
                  <c:pt idx="4">
                    <c:v>Civvix program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450000</c:v>
                </c:pt>
                <c:pt idx="1">
                  <c:v>844000</c:v>
                </c:pt>
                <c:pt idx="2">
                  <c:v>18000</c:v>
                </c:pt>
                <c:pt idx="3">
                  <c:v>1312000</c:v>
                </c:pt>
                <c:pt idx="4">
                  <c:v>166500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County keeps</c:v>
                </c:pt>
              </c:strCache>
            </c:strRef>
          </c:tx>
          <c:spPr>
            <a:solidFill>
              <a:srgbClr val="6FB3D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DDE2EB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Situs audit (30%)</c:v>
                  </c:pt>
                  <c:pt idx="1">
                    <c:v>TPP audit (30%)</c:v>
                  </c:pt>
                  <c:pt idx="2">
                    <c:v>License (40%)</c:v>
                  </c:pt>
                  <c:pt idx="3">
                    <c:v>Three vendors</c:v>
                  </c:pt>
                  <c:pt idx="4">
                    <c:v>Civvix program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1050000</c:v>
                </c:pt>
                <c:pt idx="1">
                  <c:v>1969000</c:v>
                </c:pt>
                <c:pt idx="2">
                  <c:v>27000</c:v>
                </c:pt>
                <c:pt idx="3">
                  <c:v>3046000</c:v>
                </c:pt>
                <c:pt idx="4">
                  <c:v>4191500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DDE2EB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DDE2E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00000"/>
          <c:min val="0"/>
        </c:scaling>
        <c:delete val="0"/>
        <c:axPos val="b"/>
        <c:majorGridlines>
          <c:spPr>
            <a:ln w="6350" cap="flat">
              <a:solidFill>
                <a:srgbClr val="2F4266"/>
              </a:solidFill>
              <a:prstDash val="solid"/>
              <a:round/>
            </a:ln>
          </c:spPr>
        </c:majorGridlines>
        <c:numFmt formatCode="$#,##0,,&quot;M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AA7B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2335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DDE2E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223350"/>
    </a:solidFill>
    <a:ln w="9525" cap="flat">
      <a:solidFill>
        <a:srgbClr val="2F4266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4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CIVVIX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4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ADVANTAGE  ·  WILSON COUNTY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Revenue Lines.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Placed Universe.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718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license, tangible personal property, and — the piece you asked for on Friday — </a:t>
            </a:r>
            <a:pPr indent="0" marL="0">
              <a:buNone/>
            </a:pPr>
            <a:r>
              <a:rPr lang="en-US" sz="1400" b="1" dirty="0">
                <a:solidFill>
                  <a:srgbClr val="E4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sales-tax situs</a:t>
            </a:r>
            <a:pPr indent="0" marL="0">
              <a:buNone/>
            </a:pPr>
            <a:r>
              <a:rPr lang="en-US" sz="140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Every Wilson County business placed on its rooftop, checked against three obligations, delivered as finished work to three offices.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206240"/>
            <a:ext cx="2606040" cy="1188720"/>
          </a:xfrm>
          <a:prstGeom prst="roundRect">
            <a:avLst>
              <a:gd name="adj" fmla="val 4615"/>
            </a:avLst>
          </a:prstGeom>
          <a:solidFill>
            <a:srgbClr val="223350"/>
          </a:solidFill>
          <a:ln w="9525">
            <a:solidFill>
              <a:srgbClr val="2F426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31596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B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13,512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895698"/>
            <a:ext cx="224028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Wilson businesses placed on a rooftop from public data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55848" y="4206240"/>
            <a:ext cx="2606040" cy="1188720"/>
          </a:xfrm>
          <a:prstGeom prst="roundRect">
            <a:avLst>
              <a:gd name="adj" fmla="val 4615"/>
            </a:avLst>
          </a:prstGeom>
          <a:solidFill>
            <a:srgbClr val="223350"/>
          </a:solidFill>
          <a:ln w="9525">
            <a:solidFill>
              <a:srgbClr val="2F426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38728" y="431596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B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6,723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538728" y="4895698"/>
            <a:ext cx="224028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entities with no TPP schedule on file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63056" y="4206240"/>
            <a:ext cx="2606040" cy="1188720"/>
          </a:xfrm>
          <a:prstGeom prst="roundRect">
            <a:avLst>
              <a:gd name="adj" fmla="val 4615"/>
            </a:avLst>
          </a:prstGeom>
          <a:solidFill>
            <a:srgbClr val="223350"/>
          </a:solidFill>
          <a:ln w="9525">
            <a:solidFill>
              <a:srgbClr val="2F426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45936" y="431596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B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537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345936" y="4895698"/>
            <a:ext cx="224028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businesses carrying another county's mailing city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970264" y="4206240"/>
            <a:ext cx="2606040" cy="1188720"/>
          </a:xfrm>
          <a:prstGeom prst="roundRect">
            <a:avLst>
              <a:gd name="adj" fmla="val 4615"/>
            </a:avLst>
          </a:prstGeom>
          <a:solidFill>
            <a:srgbClr val="223350"/>
          </a:solidFill>
          <a:ln w="9525">
            <a:solidFill>
              <a:srgbClr val="2F426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53144" y="431596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B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$61.8M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9153144" y="4895698"/>
            <a:ext cx="224028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option sales tax at stake every year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Civvix, Inc.  ·  Dan Hogan  ·  dan@civvix.ai  ·  atlas.navigationholdings.com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4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PREMISE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Gaps. Both Structural. Neither Is an Oversight.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Friday's premise still holds: businesses that never file never enter any government system. The situs gap is the mirror image — businesses that did register, coded to the wrong jurisdiction by a mailing address written on a form years ago. The State never checks either one.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349240" cy="3291840"/>
          </a:xfrm>
          <a:prstGeom prst="roundRect">
            <a:avLst>
              <a:gd name="adj" fmla="val 1667"/>
            </a:avLst>
          </a:prstGeom>
          <a:solidFill>
            <a:srgbClr val="223350"/>
          </a:solidFill>
          <a:ln w="9525">
            <a:solidFill>
              <a:srgbClr val="2F426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2642616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TPP  ·  BUSINESS LICENSE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862072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that never entered the roll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282696"/>
            <a:ext cx="4946904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9,863 active for-profit entities hold a Wilson County address on the State register. 3,140 filed a TPP schedule in 2025. The other 6,723 — 68% — are outside the Assessor's roll and, after the statutory exemption screen, 7,360 carry a business-license obligation.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Surfacing them means reaching outside government data, into the sources no assessment system is built to hold. That was Friday.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81928" y="2514600"/>
            <a:ext cx="5349240" cy="3291840"/>
          </a:xfrm>
          <a:prstGeom prst="roundRect">
            <a:avLst>
              <a:gd name="adj" fmla="val 1667"/>
            </a:avLst>
          </a:prstGeom>
          <a:solidFill>
            <a:srgbClr val="223350"/>
          </a:solidFill>
          <a:ln w="9525">
            <a:solidFill>
              <a:srgbClr val="2F426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83096" y="2642616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TAX SITUS  ·  THE NEW PIECE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483096" y="2862072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the State sends to the wrong county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83096" y="3282696"/>
            <a:ext cx="4946904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sales-tax dollar in Tennessee is split 50/50 by situs code — half to the county and school system, half to the city or county where the sale happened (§ 67-6-712). The code comes from the registration form, and the form carries a postal city. Old Hickory is a Nashville post office that delivers deep into Wilson County.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5,538 Wilson rooftops carry another county's mailing city. 537 of them are named businesses. When the code is wrong, Wilson loses both halves — and the Department only corrects one year back.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4652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CIVVIX   ·   Prepared for Wilson County — Finance, Assessor of Property, County Clerk   ·   September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4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LEFT OFF FRIDAY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Tax Base the County Never Recorded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TPP and business-license screening, unchanged. One screening closes two obligations; the Assessor keeps every determination (§ 67-5-507(a)); flat fee is the only lawful structure (§ 67-5-507(c)).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4206240" cy="3657600"/>
          </a:xfrm>
          <a:prstGeom prst="roundRect">
            <a:avLst>
              <a:gd name="adj" fmla="val 1500"/>
            </a:avLst>
          </a:prstGeom>
          <a:solidFill>
            <a:srgbClr val="1B2A47"/>
          </a:solidFill>
          <a:ln w="9525">
            <a:solidFill>
              <a:srgbClr val="2F426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4688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4B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6,723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0332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registered and active with the Tennessee Secretary of State at a Wilson County address, with no tangible-personal-property schedule on file with the Assessor.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257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4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of the TPP-obligated universe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0" y="2286000"/>
            <a:ext cx="2148840" cy="1737360"/>
          </a:xfrm>
          <a:prstGeom prst="roundRect">
            <a:avLst>
              <a:gd name="adj" fmla="val 3158"/>
            </a:avLst>
          </a:prstGeom>
          <a:solidFill>
            <a:srgbClr val="223350"/>
          </a:solidFill>
          <a:ln w="9525">
            <a:solidFill>
              <a:srgbClr val="2F426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12080" y="2395728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B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9,863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3293669"/>
            <a:ext cx="1783080" cy="660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for-profit entities on the state register, Wilson address (Aug 2026)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60920" y="2286000"/>
            <a:ext cx="2148840" cy="1737360"/>
          </a:xfrm>
          <a:prstGeom prst="roundRect">
            <a:avLst>
              <a:gd name="adj" fmla="val 3158"/>
            </a:avLst>
          </a:prstGeom>
          <a:solidFill>
            <a:srgbClr val="223350"/>
          </a:solidFill>
          <a:ln w="9525">
            <a:solidFill>
              <a:srgbClr val="2F426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43800" y="2395728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B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3,140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7543800" y="3293669"/>
            <a:ext cx="1783080" cy="660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TPP schedules actually filed in 2025 (TN Comptroller)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692640" y="2286000"/>
            <a:ext cx="2148840" cy="1737360"/>
          </a:xfrm>
          <a:prstGeom prst="roundRect">
            <a:avLst>
              <a:gd name="adj" fmla="val 3158"/>
            </a:avLst>
          </a:prstGeom>
          <a:solidFill>
            <a:srgbClr val="223350"/>
          </a:solidFill>
          <a:ln w="9525">
            <a:solidFill>
              <a:srgbClr val="2F426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875520" y="2395728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B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31.8%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9875520" y="3293669"/>
            <a:ext cx="1783080" cy="660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Wilson's TPP filed-compliance rate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0" y="4206240"/>
            <a:ext cx="2148840" cy="1737360"/>
          </a:xfrm>
          <a:prstGeom prst="roundRect">
            <a:avLst>
              <a:gd name="adj" fmla="val 3158"/>
            </a:avLst>
          </a:prstGeom>
          <a:solidFill>
            <a:srgbClr val="223350"/>
          </a:solidFill>
          <a:ln w="9525">
            <a:solidFill>
              <a:srgbClr val="2F426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12080" y="4315968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B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+1,724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5212080" y="5213909"/>
            <a:ext cx="1783080" cy="660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new entities per year — the gap widens on its own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60920" y="4206240"/>
            <a:ext cx="2148840" cy="1737360"/>
          </a:xfrm>
          <a:prstGeom prst="roundRect">
            <a:avLst>
              <a:gd name="adj" fmla="val 3158"/>
            </a:avLst>
          </a:prstGeom>
          <a:solidFill>
            <a:srgbClr val="223350"/>
          </a:solidFill>
          <a:ln w="9525">
            <a:solidFill>
              <a:srgbClr val="2F426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43800" y="4315968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B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7,360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7543800" y="5213909"/>
            <a:ext cx="1783080" cy="660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carrying the business-license obligation after the exemption screen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692640" y="4206240"/>
            <a:ext cx="2148840" cy="1737360"/>
          </a:xfrm>
          <a:prstGeom prst="roundRect">
            <a:avLst>
              <a:gd name="adj" fmla="val 3158"/>
            </a:avLst>
          </a:prstGeom>
          <a:solidFill>
            <a:srgbClr val="223350"/>
          </a:solidFill>
          <a:ln w="9525">
            <a:solidFill>
              <a:srgbClr val="2F426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875520" y="4315968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4B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$2.1–3.9M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9875520" y="5213909"/>
            <a:ext cx="1783080" cy="660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First-cycle TPP recovery, county rate only (6–11% of county average, 1.8-year look-back)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080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TN SoS statewide extract (July 2025 base + monthly increments through Aug 2026), screened against Wilson's own file · TN Comptroller TPRA response, Schedules Filed Per County.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4652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CIVVIX   ·   Prepared for Wilson County — Finance, Assessor of Property, County Clerk   ·   September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4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SITUS SERVICE  ·  WHAT WE FOUND WITH PUBLIC DATA ONLY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Wilson County, Measured to the Foot</a:t>
            </a:r>
            <a:endParaRPr lang="en-US" sz="3000" dirty="0"/>
          </a:p>
        </p:txBody>
      </p:sp>
      <p:pic>
        <p:nvPicPr>
          <p:cNvPr id="4" name="Image 0" descr="deck_wil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675120" cy="42885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80644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Wilson County workbench — every rooftop placed inside the Department's own situs polygons, seams drawn, businesses ranked by exposure. Live at atlas.navigationholdings.com. No confidential data was used to build it.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7543800" y="1463040"/>
            <a:ext cx="4114800" cy="896112"/>
          </a:xfrm>
          <a:prstGeom prst="roundRect">
            <a:avLst>
              <a:gd name="adj" fmla="val 6122"/>
            </a:avLst>
          </a:prstGeom>
          <a:solidFill>
            <a:srgbClr val="223350"/>
          </a:solidFill>
          <a:ln w="9525">
            <a:solidFill>
              <a:srgbClr val="2F426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26680" y="1572768"/>
            <a:ext cx="3749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4B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88,196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726680" y="1982785"/>
            <a:ext cx="3749040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rooftops placed in a DOR situs polygon — zero unplaced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543800" y="2505456"/>
            <a:ext cx="4114800" cy="896112"/>
          </a:xfrm>
          <a:prstGeom prst="roundRect">
            <a:avLst>
              <a:gd name="adj" fmla="val 6122"/>
            </a:avLst>
          </a:prstGeom>
          <a:solidFill>
            <a:srgbClr val="223350"/>
          </a:solidFill>
          <a:ln w="9525">
            <a:solidFill>
              <a:srgbClr val="2F426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26680" y="2615184"/>
            <a:ext cx="3749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4B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141 miles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7726680" y="3025201"/>
            <a:ext cx="3749040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county seam — Davidson, Sumner, Rutherford, Trousdale, Smith, Cannon, DeKalb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543800" y="3547872"/>
            <a:ext cx="4114800" cy="896112"/>
          </a:xfrm>
          <a:prstGeom prst="roundRect">
            <a:avLst>
              <a:gd name="adj" fmla="val 6122"/>
            </a:avLst>
          </a:prstGeom>
          <a:solidFill>
            <a:srgbClr val="223350"/>
          </a:solidFill>
          <a:ln w="9525">
            <a:solidFill>
              <a:srgbClr val="2F426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26680" y="3657600"/>
            <a:ext cx="3749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82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5,538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7726680" y="4067617"/>
            <a:ext cx="3749040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Wilson rooftops carrying another county's mailing city (Old Hickory, Hermitage, Lascassas…)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543800" y="4590288"/>
            <a:ext cx="4114800" cy="896112"/>
          </a:xfrm>
          <a:prstGeom prst="roundRect">
            <a:avLst>
              <a:gd name="adj" fmla="val 6122"/>
            </a:avLst>
          </a:prstGeom>
          <a:solidFill>
            <a:srgbClr val="223350"/>
          </a:solidFill>
          <a:ln w="9525">
            <a:solidFill>
              <a:srgbClr val="2F426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26680" y="4700016"/>
            <a:ext cx="3749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82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537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7726680" y="5110033"/>
            <a:ext cx="3749040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businesses on those rooftops — both halves of the tax at risk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543800" y="5632704"/>
            <a:ext cx="4114800" cy="896112"/>
          </a:xfrm>
          <a:prstGeom prst="roundRect">
            <a:avLst>
              <a:gd name="adj" fmla="val 6122"/>
            </a:avLst>
          </a:prstGeom>
          <a:solidFill>
            <a:srgbClr val="223350"/>
          </a:solidFill>
          <a:ln w="9525">
            <a:solidFill>
              <a:srgbClr val="2F426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26680" y="5742432"/>
            <a:ext cx="3749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4B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12,697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7726680" y="6152449"/>
            <a:ext cx="3749040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where the State's own address file and its own polygon disagree — errors that run in Wilson's favour, reported the same way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44652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CIVVIX   ·   Prepared for Wilson County — Finance, Assessor of Property, County Clerk   ·   September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4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COST, NO COMMITMENT  ·  BEFORE ANY CONTRACT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 Wilson Addresses We Would Like You to Check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Named, registered businesses on Wilson rooftops whose evidence says they deserve the first look when Finance pulls the situs report from REP. Not findings — ranked exposure. Verifying these turns the ranking into a measured error rate for Wilson County, and every confirmed miscoding is a correction letter ready to sign.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97480" cy="1783080"/>
          </a:xfrm>
          <a:prstGeom prst="roundRect">
            <a:avLst>
              <a:gd name="adj" fmla="val 3077"/>
            </a:avLst>
          </a:prstGeom>
          <a:solidFill>
            <a:srgbClr val="223350"/>
          </a:solidFill>
          <a:ln w="9525">
            <a:solidFill>
              <a:srgbClr val="2F426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4231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4B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900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Another county's mailing city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282696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Hickory, Milton, Lascassas, Alexandria, Auburntown, Hermitage — a Wilson rooftop, a Davidson / Rutherford / Cannon / DeKalb post office. Both halves of the tax at risk.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74136" y="2331720"/>
            <a:ext cx="2697480" cy="1783080"/>
          </a:xfrm>
          <a:prstGeom prst="roundRect">
            <a:avLst>
              <a:gd name="adj" fmla="val 3077"/>
            </a:avLst>
          </a:prstGeom>
          <a:solidFill>
            <a:srgbClr val="223350"/>
          </a:solidFill>
          <a:ln w="9525">
            <a:solidFill>
              <a:srgbClr val="2F426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57016" y="24231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4B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557016" y="29900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Within 250 ft of a seam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557016" y="3282696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enough to a county or city line that a mailing address or a mapping choice puts the code on the wrong side.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99632" y="2331720"/>
            <a:ext cx="2697480" cy="1783080"/>
          </a:xfrm>
          <a:prstGeom prst="roundRect">
            <a:avLst>
              <a:gd name="adj" fmla="val 3077"/>
            </a:avLst>
          </a:prstGeom>
          <a:solidFill>
            <a:srgbClr val="223350"/>
          </a:solidFill>
          <a:ln w="9525">
            <a:solidFill>
              <a:srgbClr val="2F426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82512" y="24231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4B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382512" y="29900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file vs. State polygon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382512" y="3282696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Department's own address-range file assigns a different situs than its own polygon, at the boundary — the addresses most likely miscoded by the State itself.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025128" y="2331720"/>
            <a:ext cx="2697480" cy="1783080"/>
          </a:xfrm>
          <a:prstGeom prst="roundRect">
            <a:avLst>
              <a:gd name="adj" fmla="val 3077"/>
            </a:avLst>
          </a:prstGeom>
          <a:solidFill>
            <a:srgbClr val="223350"/>
          </a:solidFill>
          <a:ln w="9525">
            <a:solidFill>
              <a:srgbClr val="2F426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08008" y="24231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4B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9208008" y="29900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Annexation lag / layers disagree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208008" y="3282696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 polygon, Comptroller city limits and the 911 authority do not agree, or an annexation has not reached the roster.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97680"/>
          <a:ext cx="74980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463040"/>
                <a:gridCol w="2011680"/>
                <a:gridCol w="1280160"/>
                <a:gridCol w="54864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Postal city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 situs (rooftop in DOR polygon)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address file says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Excalibur Pool Services Company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Milton (Rutherford)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9500 Wilson unincorporated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9500 Wilson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TruNorth Health Advisors, LLC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Lascassas (Rutherford)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9500 Wilson unincorporated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9500 Wilson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Teased LLC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Lebanon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9500 Wilson unincorporated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9501 Lebanon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 ft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Glass Key LLC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 Hickory (Davidson)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9500 Wilson unincorporated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9503 Mt. Juliet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 ft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Nashville Video Productions, LLC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Mt. Juliet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9500 Wilson unincorporated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9503 Mt. Juliet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 ft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8229600" y="4297680"/>
            <a:ext cx="3410712" cy="1508760"/>
          </a:xfrm>
          <a:prstGeom prst="roundRect">
            <a:avLst>
              <a:gd name="adj" fmla="val 3636"/>
            </a:avLst>
          </a:prstGeom>
          <a:solidFill>
            <a:srgbClr val="1B2A47"/>
          </a:solidFill>
          <a:ln w="9525">
            <a:solidFill>
              <a:srgbClr val="E4B54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366760" y="4343400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4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works. </a:t>
            </a:r>
            <a:pPr indent="0" marL="0">
              <a:buNone/>
            </a:pPr>
            <a:r>
              <a:rPr lang="en-US" sz="95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 is a spreadsheet with three yellow columns. Finance pulls the situs report, enters the State's coded situs for each of the 250, marks match / no match, and keeps the roster inside the County. Civvix never sees it. What comes back is a precision rate — the number every other figure in this deck should be rebuilt on.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943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with this deck: Civvix_Wilson_250_Addresses_To_Verify.xlsx — public data only, no Department of Revenue data included.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44652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CIVVIX   ·   Prepared for Wilson County — Finance, Assessor of Property, County Clerk   ·   September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4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Geography First. Taxpayer Data Last.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anyone tells the Department a business is miscoded, the geography underneath the claim should be provable. So the map is built first, from public layers, and the confidential situs report is the last thing touched — inside your own browser.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1783080" cy="2651760"/>
          </a:xfrm>
          <a:prstGeom prst="roundRect">
            <a:avLst>
              <a:gd name="adj" fmla="val 3077"/>
            </a:avLst>
          </a:prstGeom>
          <a:solidFill>
            <a:srgbClr val="223350"/>
          </a:solidFill>
          <a:ln w="9525">
            <a:solidFill>
              <a:srgbClr val="2F42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697480"/>
            <a:ext cx="384048" cy="384048"/>
          </a:xfrm>
          <a:prstGeom prst="ellipse">
            <a:avLst/>
          </a:prstGeom>
          <a:solidFill>
            <a:srgbClr val="E4B54A"/>
          </a:solidFill>
          <a:ln w="12700">
            <a:solidFill>
              <a:srgbClr val="E4B5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2004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611880"/>
            <a:ext cx="1417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address from the 911 authority's own points — no interpolated geocoding.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59736" y="2514600"/>
            <a:ext cx="1783080" cy="2651760"/>
          </a:xfrm>
          <a:prstGeom prst="roundRect">
            <a:avLst>
              <a:gd name="adj" fmla="val 3077"/>
            </a:avLst>
          </a:prstGeom>
          <a:solidFill>
            <a:srgbClr val="223350"/>
          </a:solidFill>
          <a:ln w="9525">
            <a:solidFill>
              <a:srgbClr val="2F42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42616" y="2697480"/>
            <a:ext cx="384048" cy="384048"/>
          </a:xfrm>
          <a:prstGeom prst="ellipse">
            <a:avLst/>
          </a:prstGeom>
          <a:solidFill>
            <a:srgbClr val="E4B54A"/>
          </a:solidFill>
          <a:ln w="12700">
            <a:solidFill>
              <a:srgbClr val="E4B5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42616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642616" y="32004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642616" y="3611880"/>
            <a:ext cx="1417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in feet to every jurisdictional seam; DOR polygon vs. Comptroller city limits vs. 911 attribute.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70832" y="2514600"/>
            <a:ext cx="1783080" cy="2651760"/>
          </a:xfrm>
          <a:prstGeom prst="roundRect">
            <a:avLst>
              <a:gd name="adj" fmla="val 3077"/>
            </a:avLst>
          </a:prstGeom>
          <a:solidFill>
            <a:srgbClr val="223350"/>
          </a:solidFill>
          <a:ln w="9525">
            <a:solidFill>
              <a:srgbClr val="2F42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53712" y="2697480"/>
            <a:ext cx="384048" cy="384048"/>
          </a:xfrm>
          <a:prstGeom prst="ellipse">
            <a:avLst/>
          </a:prstGeom>
          <a:solidFill>
            <a:srgbClr val="E4B54A"/>
          </a:solidFill>
          <a:ln w="12700">
            <a:solidFill>
              <a:srgbClr val="E4B5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53712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53712" y="32004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53712" y="3611880"/>
            <a:ext cx="1417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Cross-county postal, boundary risk, postal exposure, State-vs-State conflicts — scored, with evidence.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81928" y="2514600"/>
            <a:ext cx="1783080" cy="2651760"/>
          </a:xfrm>
          <a:prstGeom prst="roundRect">
            <a:avLst>
              <a:gd name="adj" fmla="val 3077"/>
            </a:avLst>
          </a:prstGeom>
          <a:solidFill>
            <a:srgbClr val="223350"/>
          </a:solidFill>
          <a:ln w="9525">
            <a:solidFill>
              <a:srgbClr val="2F42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64808" y="2697480"/>
            <a:ext cx="384048" cy="384048"/>
          </a:xfrm>
          <a:prstGeom prst="ellipse">
            <a:avLst/>
          </a:prstGeom>
          <a:solidFill>
            <a:srgbClr val="E4B54A"/>
          </a:solidFill>
          <a:ln w="12700">
            <a:solidFill>
              <a:srgbClr val="E4B54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64808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64808" y="32004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64808" y="3611880"/>
            <a:ext cx="1417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pulls the situs report from REP; it is matched to the map in the browser tab and never stored by Civvix.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193024" y="2514600"/>
            <a:ext cx="1783080" cy="2651760"/>
          </a:xfrm>
          <a:prstGeom prst="roundRect">
            <a:avLst>
              <a:gd name="adj" fmla="val 3077"/>
            </a:avLst>
          </a:prstGeom>
          <a:solidFill>
            <a:srgbClr val="223350"/>
          </a:solidFill>
          <a:ln w="9525">
            <a:solidFill>
              <a:srgbClr val="2F42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75904" y="2697480"/>
            <a:ext cx="384048" cy="384048"/>
          </a:xfrm>
          <a:prstGeom prst="ellipse">
            <a:avLst/>
          </a:prstGeom>
          <a:solidFill>
            <a:srgbClr val="E4B54A"/>
          </a:solidFill>
          <a:ln w="12700">
            <a:solidFill>
              <a:srgbClr val="E4B54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75904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375904" y="32004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Adjudicate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375904" y="3611880"/>
            <a:ext cx="1417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analyst signs each packet: coded situs, measured situs, every layer's verdict, the distance, the hash.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0104120" y="2514600"/>
            <a:ext cx="1783080" cy="2651760"/>
          </a:xfrm>
          <a:prstGeom prst="roundRect">
            <a:avLst>
              <a:gd name="adj" fmla="val 3077"/>
            </a:avLst>
          </a:prstGeom>
          <a:solidFill>
            <a:srgbClr val="223350"/>
          </a:solidFill>
          <a:ln w="9525">
            <a:solidFill>
              <a:srgbClr val="2F42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287000" y="2697480"/>
            <a:ext cx="384048" cy="384048"/>
          </a:xfrm>
          <a:prstGeom prst="ellipse">
            <a:avLst/>
          </a:prstGeom>
          <a:solidFill>
            <a:srgbClr val="E4B54A"/>
          </a:solidFill>
          <a:ln w="12700">
            <a:solidFill>
              <a:srgbClr val="E4B54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28700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0287000" y="32004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10287000" y="3611880"/>
            <a:ext cx="1417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letters ready for the County's signature to DOR Financial Control — both directions, every quarter.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544068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1B2A47"/>
          </a:solidFill>
          <a:ln w="9525">
            <a:solidFill>
              <a:srgbClr val="E4B54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7240" y="544068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4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custody. </a:t>
            </a:r>
            <a:pPr indent="0" marL="0">
              <a:buNone/>
            </a:pPr>
            <a:r>
              <a:rPr lang="en-US" sz="115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situs report is disclosed to a contractor under § 67-1-1704(d) and protected by § 67-1-1709. It stays in the County's session; Civvix holds public data only. That is the sentence that makes this contract small on insurance, small on liability, and easy to approve.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44652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CIVVIX   ·   Prepared for Wilson County — Finance, Assessor of Property, County Clerk   ·   September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4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Placed Universe. Three Obligations. Three Offices.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rooftop that answers "which situs code?" answers "is it licensed?" and "did it file a schedule?" That is why the three belong in one program, and why the second and third cost a fraction of the first.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108960" cy="3383280"/>
          </a:xfrm>
          <a:prstGeom prst="roundRect">
            <a:avLst>
              <a:gd name="adj" fmla="val 1765"/>
            </a:avLst>
          </a:prstGeom>
          <a:solidFill>
            <a:srgbClr val="223350"/>
          </a:solidFill>
          <a:ln w="9525">
            <a:solidFill>
              <a:srgbClr val="2F426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2596896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PUBLIC SOURCES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816352"/>
            <a:ext cx="2706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236976"/>
            <a:ext cx="2706624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Secretary of State register, deduplicated monthly (1.43M entities)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 situs polygons and address-range file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Comptroller certified city limits, monthly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Wilson E-911 address points and business points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 license register, TPP roll (County-furnished)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ABC, Health, Commerce &amp; Insurance, TDEC permits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977640" y="2468880"/>
            <a:ext cx="4206240" cy="3383280"/>
          </a:xfrm>
          <a:prstGeom prst="roundRect">
            <a:avLst>
              <a:gd name="adj" fmla="val 1622"/>
            </a:avLst>
          </a:prstGeom>
          <a:solidFill>
            <a:srgbClr val="1B2A47"/>
          </a:solidFill>
          <a:ln w="9525">
            <a:solidFill>
              <a:srgbClr val="2F426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06240" y="26334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4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CIVVIX ENGINE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2971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Rooftop placement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32644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placed on the 911 authority's address point — the one method every finding shares.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39044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engine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4197096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Tennessee Code as automated checks: § 67-6-712, § 67-5-903, § 67-4-723.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48371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packets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512978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finished, mail-ready packet per finding; provenance and hash on every one.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503920" y="2468880"/>
            <a:ext cx="3136392" cy="1024128"/>
          </a:xfrm>
          <a:prstGeom prst="roundRect">
            <a:avLst>
              <a:gd name="adj" fmla="val 5357"/>
            </a:avLst>
          </a:prstGeom>
          <a:solidFill>
            <a:srgbClr val="223350"/>
          </a:solidFill>
          <a:ln w="9525">
            <a:solidFill>
              <a:srgbClr val="2F426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705088" y="2615184"/>
            <a:ext cx="2734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 Director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705088" y="3035808"/>
            <a:ext cx="2734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Situs correction packets, quarterly bulletin, both directions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503920" y="3648456"/>
            <a:ext cx="3136392" cy="1024128"/>
          </a:xfrm>
          <a:prstGeom prst="roundRect">
            <a:avLst>
              <a:gd name="adj" fmla="val 5357"/>
            </a:avLst>
          </a:prstGeom>
          <a:solidFill>
            <a:srgbClr val="223350"/>
          </a:solidFill>
          <a:ln w="9525">
            <a:solidFill>
              <a:srgbClr val="2F426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705088" y="3794760"/>
            <a:ext cx="2734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Assessor of Property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705088" y="4215384"/>
            <a:ext cx="2734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Forced-assessment referrals with valuation and parcel fields, § 67-5-903(c)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503920" y="4828032"/>
            <a:ext cx="3136392" cy="1024128"/>
          </a:xfrm>
          <a:prstGeom prst="roundRect">
            <a:avLst>
              <a:gd name="adj" fmla="val 5357"/>
            </a:avLst>
          </a:prstGeom>
          <a:solidFill>
            <a:srgbClr val="223350"/>
          </a:solidFill>
          <a:ln w="9525">
            <a:solidFill>
              <a:srgbClr val="2F426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705088" y="4974336"/>
            <a:ext cx="2734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County Clerk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705088" y="5394960"/>
            <a:ext cx="2734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unlicensed businesses, county and city obligation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out: recovered and protected revenue, routed to the office that owns the decision. Civvix delivers evidence, never determinations.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4652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CIVVIX   ·   Prepared for Wilson County — Finance, Assessor of Property, County Clerk   ·   September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4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RECOVERY LOOKS LIKE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Streams, One First Cycle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Friday's TPP scenarios, unchanged, plus the situs stream Aaron asked about. County rate only; the Lebanon, Mt. Juliet and Watertown rates levied on the same equipment are on top.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709160"/>
                <a:gridCol w="1828800"/>
                <a:gridCol w="181051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stream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cycle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Recurring / 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Tangible personal property (Friday)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6,723 non-filers × $2,197 county tax per return × 6–11% size factor × 85% collection; 1.8-year look-back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$2,110,000 – $3,868,000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$753,000 – $1,381,000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tax situs (new)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~165 miscoded registrations (537 flagged × 0.31 precision from the Hendersonville calibration) × $5,700 local option each (⅓ of county mean), 50–100% verified, plus one year back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$940,000 – $1,880,000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$470,000 – $940,000  protected, compounding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license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7,360 obligated entities; $15 minimal / standard fees, three back years, 15% penalty — unmodelled upside on Friday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$30,000 – $60,000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$10,000 – $20,000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4B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E4B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$3.1M – $5.8M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E4B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$1.2M – $2.3M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12080"/>
            <a:ext cx="3566160" cy="1097280"/>
          </a:xfrm>
          <a:prstGeom prst="roundRect">
            <a:avLst>
              <a:gd name="adj" fmla="val 5000"/>
            </a:avLst>
          </a:prstGeom>
          <a:solidFill>
            <a:srgbClr val="223350"/>
          </a:solidFill>
          <a:ln w="9525">
            <a:solidFill>
              <a:srgbClr val="2F426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5358384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Situs is the stream that never stops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5779008"/>
            <a:ext cx="3163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corrected code moves that business's tax every year, forever. Corrections found late are money the Department will not return.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06824" y="5212080"/>
            <a:ext cx="3566160" cy="1097280"/>
          </a:xfrm>
          <a:prstGeom prst="roundRect">
            <a:avLst>
              <a:gd name="adj" fmla="val 5000"/>
            </a:avLst>
          </a:prstGeom>
          <a:solidFill>
            <a:srgbClr val="223350"/>
          </a:solidFill>
          <a:ln w="9525">
            <a:solidFill>
              <a:srgbClr val="2F426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07992" y="5358384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directions, on purpose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07992" y="5779008"/>
            <a:ext cx="3163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12,697 addresses run the other way. Reporting them is what makes the findings survive a challenge from Lebanon or Mt. Juliet.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8065008" y="5212080"/>
            <a:ext cx="3575304" cy="1097280"/>
          </a:xfrm>
          <a:prstGeom prst="roundRect">
            <a:avLst>
              <a:gd name="adj" fmla="val 5000"/>
            </a:avLst>
          </a:prstGeom>
          <a:solidFill>
            <a:srgbClr val="223350"/>
          </a:solidFill>
          <a:ln w="9525">
            <a:solidFill>
              <a:srgbClr val="2F426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66176" y="5358384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Calibrated, not assumed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266176" y="5779008"/>
            <a:ext cx="3172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6–11% is sampled from forced TPP accounts; the 0.31 situs precision from a city roster with situs codes (n = 1,945). The first Wilson roster replaces both with measured rates.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4652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CIVVIX   ·   Prepared for Wilson County — Finance, Assessor of Property, County Clerk   ·   September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4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FIRST-YEAR RETURN  ·  WHAT WILSON COUNTY EARNS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One: $3.1M Conservative, $4.4M Expected, $5.8M Upside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line below is a measured population times a sampled rate. Nothing is a statewide average. Where a rate is an assumption, the slide says so and names the sample that would replace it.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91672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788920"/>
                <a:gridCol w="3703320"/>
                <a:gridCol w="1005840"/>
                <a:gridCol w="1005840"/>
                <a:gridCol w="98755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(measured)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and value (sampled / sourced)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Conservative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Upside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7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TPP forced assessments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6,723 active for-profit entities with no schedule — SOS register screened against Wilson's own TPP file (n = 9,863)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$2,197 county tax per return (Comptroller, Wilson) × 6 / 8 / 11% size factor (sampled from forced and discovered accounts) × 85% collection × 1.8-yr look-back (measured, Wilson)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$2,110,000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$2,813,000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$3,868,000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Sales-tax situs corrections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537 named businesses on Wilson rooftops with another county's mailing city; 540 more within 250 ft of a seam (measured on 88,196 rooftops)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0.31 on exposure flags (Hendersonville roster calibration, n = 1,945 coded registrations) → ~165 miscoded; $5,700 local option per business (⅓ of the $17K county mean); 50 / 80 / 100% verified; + 1 year back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$940,000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$1,500,000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$1,880,000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license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7,360 entities carrying the obligation after the 25.38% exemption screen (Wilson's own file)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 minimal / standard fee, three back years (§ 67-1-1005), 15% penalty; 40 / 55 / 70% unlicensed among non-filers (Civvix ROI model default 70% valid)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4B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First-year 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E4B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$3.08M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E4B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$4.36M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E4B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$5.81M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cost, year 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$166,500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$166,500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$166,500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4B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to the County · return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E4B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$2.91M · 18.5×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E4B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$4.19M · 26.2×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E4B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$5.64M · 34.9×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623560"/>
            <a:ext cx="3611880" cy="777240"/>
          </a:xfrm>
          <a:prstGeom prst="roundRect">
            <a:avLst>
              <a:gd name="adj" fmla="val 7059"/>
            </a:avLst>
          </a:prstGeom>
          <a:solidFill>
            <a:srgbClr val="1B2A47"/>
          </a:solidFill>
          <a:ln w="9525">
            <a:solidFill>
              <a:srgbClr val="E4B54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562356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4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Friday's proposal: </a:t>
            </a:r>
            <a:pPr indent="0" marL="0">
              <a:buNone/>
            </a:pPr>
            <a:r>
              <a:rPr lang="en-US" sz="100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$24,000 for ~$650,000 — one screen, one office, one pass.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297680" y="5623560"/>
            <a:ext cx="3611880" cy="777240"/>
          </a:xfrm>
          <a:prstGeom prst="roundRect">
            <a:avLst>
              <a:gd name="adj" fmla="val 7059"/>
            </a:avLst>
          </a:prstGeom>
          <a:solidFill>
            <a:srgbClr val="1B2A47"/>
          </a:solidFill>
          <a:ln w="9525">
            <a:solidFill>
              <a:srgbClr val="E4B54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34840" y="562356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4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increment: </a:t>
            </a:r>
            <a:pPr indent="0" marL="0">
              <a:buNone/>
            </a:pPr>
            <a:r>
              <a:rPr lang="en-US" sz="100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+$142,500 of fee buys +$2.4M to +$5.2M of first-year recovery — 17× to 36× on the added dollar.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046720" y="5623560"/>
            <a:ext cx="3593592" cy="777240"/>
          </a:xfrm>
          <a:prstGeom prst="roundRect">
            <a:avLst>
              <a:gd name="adj" fmla="val 7059"/>
            </a:avLst>
          </a:prstGeom>
          <a:solidFill>
            <a:srgbClr val="1B2A47"/>
          </a:solidFill>
          <a:ln w="9525">
            <a:solidFill>
              <a:srgbClr val="E4B54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83880" y="5623560"/>
            <a:ext cx="3319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4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replaces the assumptions: </a:t>
            </a:r>
            <a:pPr indent="0" marL="0">
              <a:buNone/>
            </a:pPr>
            <a:r>
              <a:rPr lang="en-US" sz="100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Wilson roster (situs precision) and the first 50 closed TPP cases (size factor). Both are in the program.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CIVVIX   ·   Prepared for Wilson County — Finance, Assessor of Property, County Clerk   ·   September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4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THREE AUDITS, OR ONE PROGRAM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Same Three Answers Cost, Bought Separately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Expected-case first year on Wilson's measured populations. Standalone rows are priced the way those services are actually sold; the gross recovery is held equal so the only variable is what the County keeps.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80010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331720"/>
                <a:gridCol w="960120"/>
                <a:gridCol w="822960"/>
                <a:gridCol w="868680"/>
                <a:gridCol w="17830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is sold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to Wilson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recovery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County keeps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missing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Standalone sales-tax situs audit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Contingency: HdL 15%, MuniServices/Neumo 30%, Azavar to 50% of recovery, eight quarters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$225K – $750K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(30%: $450K)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$1,500,000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$750K – $1.28M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direction only; no rooftop placement; ends after eight quarters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Standalone TPP audit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 of new revenue is the market form (TMA, New London CT: $278,700 on $1.8M) — void in Tennessee, § 67-5-507(c). The lawful form is a per-account audit fee ($300–700) that audits filers, not the 6,723 who never filed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$844K at 30%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(or $2.0–4.7M per-account)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$2,813,000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$1.97M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Never-filer discovery; a lawful TN price; the license side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Standalone business-license discovery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Contingency 30–50% of fees collected, usually with a minimum; city and county sold separately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$14K – $23K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minimum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$22K – $31K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TPP schedule the same business skipped; nothing on situs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vendors, three contracts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procurements, three data requests, three offices fed separately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$1.31M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$4,358,000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$3.05M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shared map — a business one vendor finds never reaches the other two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4B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Civvix Revenue Integrity Program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$0.60/resident situs + $250/packet + $10/lead; no contingency; quarterly; three offices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E4B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$166,500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E4B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$4,358,000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E4B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$4.19M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Nothing; year two ≈ $135K against $1.1–2.3M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8732520" y="1965960"/>
          <a:ext cx="29260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vendor contingency rates from public contracts and RFP responses (HdL, MuniServices/Neumo, Azavar; Tax Management Associates' New London, CT contract at 30%); Tennessee prohibition on percentage-of-recovery for assessment work, T.C.A. § 67-5-507(c). Gross recovery per the ROI slide, expected case.</a:t>
            </a:r>
            <a:endParaRPr lang="en-US" sz="8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644652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CIVVIX   ·   Prepared for Wilson County — Finance, Assessor of Property, County Clerk   ·   September 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4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INVESTMENT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Lead Price to a Program Price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$24,000 a year bought one screening for one office. The program is three revenue lines for three offices, monitored continuously, priced in three simple units — and the County keeps 100% of every dollar.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291840" cy="3429000"/>
          </a:xfrm>
          <a:prstGeom prst="roundRect">
            <a:avLst>
              <a:gd name="adj" fmla="val 1667"/>
            </a:avLst>
          </a:prstGeom>
          <a:solidFill>
            <a:srgbClr val="223350"/>
          </a:solidFill>
          <a:ln w="9525">
            <a:solidFill>
              <a:srgbClr val="2F426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26060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STARTED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880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DE2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$24,000 / yr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4747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 per lead, TPP and license only, one office, one pass. Anticipated recovery ≈ $650,000.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43434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4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459028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B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$0.60 / resident / yr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51663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Situs monitoring, quarterly: 175,033 residents × $0.60 = $105,020. Plus work product as produced: $250 per adjudicated situs packet; $10 per double-verified TPP / license lead, 2,400 a year minimum — Friday's $24,000 becomes the floor.</a:t>
            </a:r>
            <a:endParaRPr lang="en-US" sz="9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2468880"/>
          <a:ext cx="7525512" cy="914400"/>
        </p:xfrm>
        <a:graphic>
          <a:graphicData uri="http://schemas.openxmlformats.org/drawingml/2006/table">
            <a:tbl>
              <a:tblPr/>
              <a:tblGrid>
                <a:gridCol w="3867912"/>
                <a:gridCol w="1828800"/>
                <a:gridCol w="18288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2+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Situs monitoring ($0.60 × 175,033 residents)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$105,020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$105,020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Situs packets at $250 (~150, then ~25/yr)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$6,250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Double-verified TPP + license leads (2,400/yr minimum)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County pays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$166,500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$135,300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4B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County recovers / protects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E4B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$3.1M – $5.8M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E4B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$1.1M – $2.3M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on the fee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18× – 35×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DDE2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8× – 17×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F42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350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114800" y="4754880"/>
            <a:ext cx="2423160" cy="1143000"/>
          </a:xfrm>
          <a:prstGeom prst="roundRect">
            <a:avLst>
              <a:gd name="adj" fmla="val 4800"/>
            </a:avLst>
          </a:prstGeom>
          <a:solidFill>
            <a:srgbClr val="1B2A47"/>
          </a:solidFill>
          <a:ln w="9525">
            <a:solidFill>
              <a:srgbClr val="2F426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251960" y="48188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4B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Continuous, not once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4251960" y="5102352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+1,724 new entities a year and a one-year DOR window: a single pass leaves money on the table every quarter.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665976" y="4754880"/>
            <a:ext cx="2423160" cy="1143000"/>
          </a:xfrm>
          <a:prstGeom prst="roundRect">
            <a:avLst>
              <a:gd name="adj" fmla="val 4800"/>
            </a:avLst>
          </a:prstGeom>
          <a:solidFill>
            <a:srgbClr val="1B2A47"/>
          </a:solidFill>
          <a:ln w="9525">
            <a:solidFill>
              <a:srgbClr val="2F426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03136" y="48188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4B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Flat fee is the law on TPP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6803136" y="5102352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67-5-507(c) voids percentage-of-recovery for assessment work; the fee has to carry the work. It still beats any contingency.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9217152" y="4754880"/>
            <a:ext cx="2423160" cy="1143000"/>
          </a:xfrm>
          <a:prstGeom prst="roundRect">
            <a:avLst>
              <a:gd name="adj" fmla="val 4800"/>
            </a:avLst>
          </a:prstGeom>
          <a:solidFill>
            <a:srgbClr val="1B2A47"/>
          </a:solidFill>
          <a:ln w="9525">
            <a:solidFill>
              <a:srgbClr val="2F426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354312" y="48188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4B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contingency would cost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9354312" y="5102352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HdL 15%, Neumo 30%, Azavar up to 50%: on the situs stream alone that is $93K–$925K a year, taken off the top, forever.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units, one rate card, every county and city in Tennessee: $0.60 per resident for situs ($0.30 municipal) · $250 per situs packet · $10 per double-verified lead ($5 municipal). Multi-year term, no contingency, ever.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644652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CIVVIX   ·   Prepared for Wilson County — Finance, Assessor of Property, County Clerk   ·   September 2026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4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ALL 95  ·  WILSON IS FIRST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State Is Already on the Map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Tennessee county's rooftops — 3.94 million — placed in the Department's situs polygons and cross-checked against the Comptroller's city limits and the 911 authorities, with 360,839 businesses from a deduplicated statewide register. Shaded by cross-county-postal businesses per 1,000; Wilson's neighbours are on the other side of the same seams.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468880"/>
            <a:ext cx="8321040" cy="2112264"/>
          </a:xfrm>
          <a:prstGeom prst="rect">
            <a:avLst/>
          </a:prstGeom>
          <a:solidFill>
            <a:srgbClr val="FFFFFF"/>
          </a:solidFill>
          <a:ln w="9525">
            <a:solidFill>
              <a:srgbClr val="2F4266"/>
            </a:solidFill>
            <a:prstDash val="solid"/>
          </a:ln>
        </p:spPr>
      </p:sp>
      <p:pic>
        <p:nvPicPr>
          <p:cNvPr id="6" name="Image 0" descr="deck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14600"/>
            <a:ext cx="8229600" cy="20208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052560" y="2514600"/>
            <a:ext cx="2587752" cy="896112"/>
          </a:xfrm>
          <a:prstGeom prst="roundRect">
            <a:avLst>
              <a:gd name="adj" fmla="val 6122"/>
            </a:avLst>
          </a:prstGeom>
          <a:solidFill>
            <a:srgbClr val="223350"/>
          </a:solidFill>
          <a:ln w="9525">
            <a:solidFill>
              <a:srgbClr val="2F426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235440" y="2624328"/>
            <a:ext cx="22219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4B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 / 95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9235440" y="3034345"/>
            <a:ext cx="2221992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counties run, zero failures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9052560" y="3538728"/>
            <a:ext cx="2587752" cy="896112"/>
          </a:xfrm>
          <a:prstGeom prst="roundRect">
            <a:avLst>
              <a:gd name="adj" fmla="val 6122"/>
            </a:avLst>
          </a:prstGeom>
          <a:solidFill>
            <a:srgbClr val="223350"/>
          </a:solidFill>
          <a:ln w="9525">
            <a:solidFill>
              <a:srgbClr val="2F426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235440" y="3648456"/>
            <a:ext cx="22219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4B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18,246 mi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9235440" y="4058473"/>
            <a:ext cx="2221992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jurisdictional seams measured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052560" y="4562856"/>
            <a:ext cx="2587752" cy="896112"/>
          </a:xfrm>
          <a:prstGeom prst="roundRect">
            <a:avLst>
              <a:gd name="adj" fmla="val 6122"/>
            </a:avLst>
          </a:prstGeom>
          <a:solidFill>
            <a:srgbClr val="223350"/>
          </a:solidFill>
          <a:ln w="9525">
            <a:solidFill>
              <a:srgbClr val="2F426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235440" y="4672584"/>
            <a:ext cx="22219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4B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9235440" y="5082601"/>
            <a:ext cx="2221992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on data — every layer public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617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to Wilson: the Lebanon Road / Old Hickory corridor is simultaneously a finding about Davidson County's coding. The seam has two sides, and both are already measured. A county that signs first sets the template the others follow.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669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atlas.navigationholdings.com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138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three units, every jurisdiction: 7.3M residents × $0.60 county situs = $4.4M; ~4.4M municipal residents × $0.30 = $1.3M; lead minimums $2.3M — an $8M-a-year addressable market at full penetration, before first-cycle packets. Addressable, not forecast.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CIVVIX   ·   Prepared for Wilson County — Finance, Assessor of Property, County Clerk   ·   September 2026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4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COUNTY BUYS IT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Competitive Solicitation, Written to a Standard of Proof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sole source. The County describes the outcome and the evidence standard; any firm may bid. Every requirement exists because a finding that fails it does not survive a challenge from a city or a taxpayer.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2697480" cy="1481328"/>
          </a:xfrm>
          <a:prstGeom prst="roundRect">
            <a:avLst>
              <a:gd name="adj" fmla="val 3704"/>
            </a:avLst>
          </a:prstGeom>
          <a:solidFill>
            <a:srgbClr val="223350"/>
          </a:solidFill>
          <a:ln w="9525">
            <a:solidFill>
              <a:srgbClr val="2F42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587752"/>
            <a:ext cx="274320" cy="274320"/>
          </a:xfrm>
          <a:prstGeom prst="ellipse">
            <a:avLst/>
          </a:prstGeom>
          <a:solidFill>
            <a:srgbClr val="6FC08A"/>
          </a:solidFill>
          <a:ln w="12700">
            <a:solidFill>
              <a:srgbClr val="6FC0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2587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60704" y="2569464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Rooftop placement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971800"/>
            <a:ext cx="23682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911-authority address points only; placement distance and unplaced share reported.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74136" y="2423160"/>
            <a:ext cx="2697480" cy="1481328"/>
          </a:xfrm>
          <a:prstGeom prst="roundRect">
            <a:avLst>
              <a:gd name="adj" fmla="val 3704"/>
            </a:avLst>
          </a:prstGeom>
          <a:solidFill>
            <a:srgbClr val="223350"/>
          </a:solidFill>
          <a:ln w="9525">
            <a:solidFill>
              <a:srgbClr val="2F42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38728" y="2587752"/>
            <a:ext cx="274320" cy="274320"/>
          </a:xfrm>
          <a:prstGeom prst="ellipse">
            <a:avLst/>
          </a:prstGeom>
          <a:solidFill>
            <a:srgbClr val="6FC08A"/>
          </a:solidFill>
          <a:ln w="12700">
            <a:solidFill>
              <a:srgbClr val="6FC08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38728" y="2587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886200" y="2569464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Authoritative boundaries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538728" y="2971800"/>
            <a:ext cx="23682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 polygons cross-checked against Comptroller city limits and the 911 jurisdiction attribute; distance to seam on every finding.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99632" y="2423160"/>
            <a:ext cx="2697480" cy="1481328"/>
          </a:xfrm>
          <a:prstGeom prst="roundRect">
            <a:avLst>
              <a:gd name="adj" fmla="val 3704"/>
            </a:avLst>
          </a:prstGeom>
          <a:solidFill>
            <a:srgbClr val="223350"/>
          </a:solidFill>
          <a:ln w="9525">
            <a:solidFill>
              <a:srgbClr val="2F42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64224" y="2587752"/>
            <a:ext cx="274320" cy="274320"/>
          </a:xfrm>
          <a:prstGeom prst="ellipse">
            <a:avLst/>
          </a:prstGeom>
          <a:solidFill>
            <a:srgbClr val="6FC08A"/>
          </a:solidFill>
          <a:ln w="12700">
            <a:solidFill>
              <a:srgbClr val="6FC08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64224" y="2587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711696" y="2569464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State-vs-State check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364224" y="2971800"/>
            <a:ext cx="23682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Department's address file compared against its own polygons.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025128" y="2423160"/>
            <a:ext cx="2697480" cy="1481328"/>
          </a:xfrm>
          <a:prstGeom prst="roundRect">
            <a:avLst>
              <a:gd name="adj" fmla="val 3704"/>
            </a:avLst>
          </a:prstGeom>
          <a:solidFill>
            <a:srgbClr val="223350"/>
          </a:solidFill>
          <a:ln w="9525">
            <a:solidFill>
              <a:srgbClr val="2F42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89720" y="2587752"/>
            <a:ext cx="274320" cy="274320"/>
          </a:xfrm>
          <a:prstGeom prst="ellipse">
            <a:avLst/>
          </a:prstGeom>
          <a:solidFill>
            <a:srgbClr val="6FC08A"/>
          </a:solidFill>
          <a:ln w="12700">
            <a:solidFill>
              <a:srgbClr val="6FC08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89720" y="2587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537192" y="2569464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Provenance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189720" y="2971800"/>
            <a:ext cx="23682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Source, custodian, effective date, CRS and snapshot hash on every finding.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4032504"/>
            <a:ext cx="2697480" cy="1481328"/>
          </a:xfrm>
          <a:prstGeom prst="roundRect">
            <a:avLst>
              <a:gd name="adj" fmla="val 3704"/>
            </a:avLst>
          </a:prstGeom>
          <a:solidFill>
            <a:srgbClr val="223350"/>
          </a:solidFill>
          <a:ln w="9525">
            <a:solidFill>
              <a:srgbClr val="2F42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3232" y="4197096"/>
            <a:ext cx="274320" cy="274320"/>
          </a:xfrm>
          <a:prstGeom prst="ellipse">
            <a:avLst/>
          </a:prstGeom>
          <a:solidFill>
            <a:srgbClr val="6FC08A"/>
          </a:solidFill>
          <a:ln w="12700">
            <a:solidFill>
              <a:srgbClr val="6FC08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3232" y="4197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060704" y="417880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directions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3232" y="4581144"/>
            <a:ext cx="23682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against the County reported with the same rigor. The County decides what is submitted.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74136" y="4032504"/>
            <a:ext cx="2697480" cy="1481328"/>
          </a:xfrm>
          <a:prstGeom prst="roundRect">
            <a:avLst>
              <a:gd name="adj" fmla="val 3704"/>
            </a:avLst>
          </a:prstGeom>
          <a:solidFill>
            <a:srgbClr val="223350"/>
          </a:solidFill>
          <a:ln w="9525">
            <a:solidFill>
              <a:srgbClr val="2F42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38728" y="4197096"/>
            <a:ext cx="274320" cy="274320"/>
          </a:xfrm>
          <a:prstGeom prst="ellipse">
            <a:avLst/>
          </a:prstGeom>
          <a:solidFill>
            <a:srgbClr val="6FC08A"/>
          </a:solidFill>
          <a:ln w="12700">
            <a:solidFill>
              <a:srgbClr val="6FC08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538728" y="4197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886200" y="417880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custody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3538728" y="4581144"/>
            <a:ext cx="23682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Taxpayer data processed in County-controlled sessions; § 67-1-1709 acknowledged per person.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99632" y="4032504"/>
            <a:ext cx="2697480" cy="1481328"/>
          </a:xfrm>
          <a:prstGeom prst="roundRect">
            <a:avLst>
              <a:gd name="adj" fmla="val 3704"/>
            </a:avLst>
          </a:prstGeom>
          <a:solidFill>
            <a:srgbClr val="223350"/>
          </a:solidFill>
          <a:ln w="9525">
            <a:solidFill>
              <a:srgbClr val="2F42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64224" y="4197096"/>
            <a:ext cx="274320" cy="274320"/>
          </a:xfrm>
          <a:prstGeom prst="ellipse">
            <a:avLst/>
          </a:prstGeom>
          <a:solidFill>
            <a:srgbClr val="6FC08A"/>
          </a:solidFill>
          <a:ln w="12700">
            <a:solidFill>
              <a:srgbClr val="6FC08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64224" y="4197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711696" y="417880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Cadence and calibration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364224" y="4581144"/>
            <a:ext cx="23682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re-measurement; annual precision/recall report against actual coding.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025128" y="4032504"/>
            <a:ext cx="2697480" cy="1481328"/>
          </a:xfrm>
          <a:prstGeom prst="roundRect">
            <a:avLst>
              <a:gd name="adj" fmla="val 3704"/>
            </a:avLst>
          </a:prstGeom>
          <a:solidFill>
            <a:srgbClr val="223350"/>
          </a:solidFill>
          <a:ln w="9525">
            <a:solidFill>
              <a:srgbClr val="2F426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89720" y="4197096"/>
            <a:ext cx="274320" cy="274320"/>
          </a:xfrm>
          <a:prstGeom prst="ellipse">
            <a:avLst/>
          </a:prstGeom>
          <a:solidFill>
            <a:srgbClr val="6FC08A"/>
          </a:solidFill>
          <a:ln w="12700">
            <a:solidFill>
              <a:srgbClr val="6FC08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189720" y="4197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9537192" y="417880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Demonstration before award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9189720" y="4581144"/>
            <a:ext cx="23682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public-data demonstration for Wilson and two adjoining counties.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5760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in the solicitation: per-resident situs monitoring on the Census estimate, per-packet and per-lead work product, no contingency on monitoring. Three-year term, two renewals.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644652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CIVVIX   ·   Prepared for Wilson County — Finance, Assessor of Property, County Clerk   ·   September 2026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4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Are Asking For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E4B54A"/>
          </a:solidFill>
          <a:ln w="12700">
            <a:solidFill>
              <a:srgbClr val="E4B5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0020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B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roll, the list, and the report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11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Assessor's TPP account roll and the Clerk's active licence list (Friday's ask) — plus one pull of the situs report from the Department's REP portal by Finance. It never leaves your browser, and it turns 537 ranked businesses into a named, verified correction list at no cost and no commitment.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E4B54A"/>
          </a:solidFill>
          <a:ln w="12700">
            <a:solidFill>
              <a:srgbClr val="E4B5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06324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B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Thirty minutes with the Assessor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474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Stephen Goodall's office owns the assessment decision and the appeal workload; they should hear the dispute-absorption design directly. Finance owns the situs letters; the same half hour covers both.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E4B54A"/>
          </a:solidFill>
          <a:ln w="12700">
            <a:solidFill>
              <a:srgbClr val="E4B5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52628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B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Agreement in principle on the program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937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DE2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revenue lines, one placed universe, three simple units ($0.60 per resident, $250 per packet, $10 per lead), every determination left with the County — and a solicitation the County can put on the street this quarter.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080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Civvix, Inc.  ·  Dan Hogan  ·  dan@civvix.ai  ·  civvix.ai  ·  atlas.navigationholdings.com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CIVVIX — The Data Advantage — Wilson County Revenue Integrity Program</dc:title>
  <dc:subject>PptxGenJS Presentation</dc:subject>
  <dc:creator>Civvix, Inc.</dc:creator>
  <cp:lastModifiedBy>Civvix, Inc.</cp:lastModifiedBy>
  <cp:revision>1</cp:revision>
  <dcterms:created xsi:type="dcterms:W3CDTF">2026-09-13T21:44:15Z</dcterms:created>
  <dcterms:modified xsi:type="dcterms:W3CDTF">2026-09-13T21:44:15Z</dcterms:modified>
</cp:coreProperties>
</file>